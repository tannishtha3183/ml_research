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2" r:id="rId10"/>
    <p:sldId id="275" r:id="rId11"/>
    <p:sldId id="263" r:id="rId12"/>
    <p:sldId id="276" r:id="rId13"/>
    <p:sldId id="264" r:id="rId14"/>
    <p:sldId id="265" r:id="rId15"/>
    <p:sldId id="273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3CF1-2F73-AFDF-4989-4AFB0DF3B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A7D50-6753-12DD-64F5-A14CFC83E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15E20-6E60-B9F7-00A9-DC1A3440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BEDF2-03A8-C4DA-B10D-36F1E6B7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7D599-18EB-E2BD-E15C-128F94BE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63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8A03-A1A1-DE6B-AACE-7A7D197A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A189-CE98-891F-10AA-9A445871F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ECCFF-1517-88A0-E8F2-3BAADC6E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52C15-4F5C-1D55-5A10-BFD6220A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C8071-AF5B-7C9A-957C-41902829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24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D75E-23B1-0380-B792-476CD894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6A0F6-35E6-E299-E568-5B449E8B8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E1E4C-B855-E079-8BBB-D49EE444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FF47F-B6EF-1F60-B67E-CECE536E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5010E-DA8D-6DBA-7B82-677E8403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8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509E-60EB-4F45-1106-AFCB2396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9E4CA-DBBF-C5CB-99C3-17066D036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4E934-6350-AB25-4B9C-704D6B1F1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780A9-DDE1-DE99-0A5B-F4146479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469DB-2F8D-E5BF-0331-6BA8DB14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7D72E-D079-F46C-269F-C13D0063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31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5FAB-D7B6-EA18-2819-309CC2DC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5B04A-4B73-91C0-9DCF-D29A1691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7D096-30DA-E1DF-9735-1437EA6C6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C3796-CF2C-027C-A84D-A351F9483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F7B04-32AC-5160-4C02-433E43593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CDB7B-4BEB-3D7D-7FBC-F4F9CAA9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45A57-8DE8-8F51-2FDE-BC04B04B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0CBE5-FA6B-EEBD-FDF1-28E0ACE9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4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AE5C-5674-66C8-62F9-9CD13D2A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E7F30-723D-F789-AA6C-7C7A3F4F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0EC85-4639-8B33-6F71-BCFADD14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1979-D447-BB6A-6185-4AD9AB6E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059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478BFF-97DA-0C46-F1A8-A4B168620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D71BA-6053-4430-B938-C099F9237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F912-8D5D-568D-27A9-84A49ABB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84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1700-471D-1BD0-2914-2AB0E967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2584A-AE16-3214-79A0-10B3E5BE3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A16A3-44F4-7065-C74C-CF5E00B6C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D621B-D66B-C313-7A49-1A4C4164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2ADC0-6732-CBC1-D61E-8C316FF3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22277-2D9E-E998-5F0C-29371DA0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5248-5DD7-8C8C-74A4-F6996D88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FE33E-582D-82D2-8081-84D99B0199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5A870-3C51-CD2F-2291-8730E20AE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32C2E-DBC2-DD67-F951-D113D88F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B5FD2-EB6D-8131-2591-71F797A7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BE22B-D517-0BEC-0CF4-4405C7DA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50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9CEF-3C30-1856-85E8-576F085B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34A65-7162-AB5B-E13E-FCE70248A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5ED3-0647-18FF-85E4-1D55F89A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E3BC-F842-5659-73BE-B1EFCFEA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4CF2B-3D29-7B9A-6993-505B1F85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58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B59A1-B3E9-2AEF-2405-8B6A7841D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C48E2-94C3-CBEB-1D5E-30F6B0CC1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ED94-0078-B773-BB8B-6530A1E1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B23F7-A87A-B85A-708F-7B793661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B7C9F-0D29-2EE5-535D-008C23CB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7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6D41C-A0B6-DC28-B429-715B9A9E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ECC3A-B594-FEA3-0CDE-C91D0919C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3F8A-6BE3-807E-90A7-AEAE1E140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901A0-E056-49F1-9E58-1E76867749A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8EAC8-67B4-F646-40AA-4C4A54321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AC346-B883-60A2-6369-2D2BACE65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47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8C63-42EC-E038-7D47-F0B88D051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7147"/>
          </a:xfrm>
        </p:spPr>
        <p:txBody>
          <a:bodyPr/>
          <a:lstStyle/>
          <a:p>
            <a:r>
              <a:rPr lang="en-US" dirty="0"/>
              <a:t>Spiking Neural Networks for Astronaut Health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95246-C9B6-21C3-23F8-49BC577D2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			Tannishtha Verma (2420080098)</a:t>
            </a:r>
            <a:endParaRPr lang="en-IN" dirty="0"/>
          </a:p>
        </p:txBody>
      </p:sp>
      <p:pic>
        <p:nvPicPr>
          <p:cNvPr id="6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DB5B562B-7246-7AFE-CDF4-F4D39658C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19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7DB8-EA92-1C11-ECEB-942C4773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 of Contents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483DC-22D6-7CC6-5E3E-C62936742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Statement/Abstract</a:t>
            </a:r>
          </a:p>
          <a:p>
            <a:r>
              <a:rPr lang="en-US" dirty="0"/>
              <a:t>Literature Survey</a:t>
            </a:r>
          </a:p>
          <a:p>
            <a:r>
              <a:rPr lang="en-US" dirty="0"/>
              <a:t>Datasets Description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Visualizations</a:t>
            </a:r>
          </a:p>
          <a:p>
            <a:r>
              <a:rPr lang="en-US" dirty="0"/>
              <a:t>Conclusions</a:t>
            </a:r>
          </a:p>
          <a:p>
            <a:endParaRPr lang="en-IN" dirty="0"/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7FE4E5F3-B871-A3E7-3CFE-7E0E6B41C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595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AD6C-D513-2C9C-AEF1-CF23FA74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2CBDD-10FA-7E9A-407A-C65003905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N" dirty="0"/>
              <a:t>Motivation: Commercial spaceflight missions demand robust, low-power health monitoring systems for astronauts.</a:t>
            </a:r>
          </a:p>
          <a:p>
            <a:pPr algn="just"/>
            <a:r>
              <a:rPr lang="en-IN" dirty="0"/>
              <a:t>Challenge: Traditional ANNs struggle with sparse biomedical signals and high computational demands unsuitable for spacecraft environments.</a:t>
            </a:r>
          </a:p>
          <a:p>
            <a:pPr algn="just"/>
            <a:r>
              <a:rPr lang="en-IN" dirty="0"/>
              <a:t>Solution: Spiking Neural Networks (SNNs) offer event-driven computation and energy efficiency for temporal pattern modelling.</a:t>
            </a:r>
          </a:p>
          <a:p>
            <a:pPr algn="just"/>
            <a:r>
              <a:rPr lang="en-IN" dirty="0"/>
              <a:t>Dataset: NASA Inspiration4 SOMA plasma metadata with mission-phase labels (pre-flight vs post-flight).</a:t>
            </a:r>
          </a:p>
          <a:p>
            <a:pPr algn="just"/>
            <a:r>
              <a:rPr lang="en-IN" dirty="0"/>
              <a:t>Method: LIF-based SNN with surrogate gradient training for binary classification.</a:t>
            </a: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74B81369-83E5-DBBE-03A2-18B4B2010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972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2F94-9809-DD7A-B7CB-8CFCC3CD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A0DCE-0F12-7FD4-900A-FAE65D184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7" y="179175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Problem:</a:t>
            </a:r>
          </a:p>
          <a:p>
            <a:pPr lvl="1" algn="just"/>
            <a:r>
              <a:rPr lang="en-IN" dirty="0"/>
              <a:t>Astronaut health monitoring in space requires low-power, real-time analysis of physiological disruptions.</a:t>
            </a:r>
          </a:p>
          <a:p>
            <a:pPr lvl="1" algn="just"/>
            <a:r>
              <a:rPr lang="en-IN" dirty="0"/>
              <a:t>Traditional ANNs are computationally expensive for spacecraft deployment.</a:t>
            </a:r>
          </a:p>
          <a:p>
            <a:pPr lvl="1" algn="just"/>
            <a:r>
              <a:rPr lang="en-IN" dirty="0"/>
              <a:t>No existing SNN-based solution for NASA spaceflight health data.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Research Question:</a:t>
            </a:r>
          </a:p>
          <a:p>
            <a:pPr lvl="1" algn="just"/>
            <a:r>
              <a:rPr lang="en-IN" dirty="0"/>
              <a:t>Can SNNs achieve competitive accuracy for mission-phase classification (pre-flight vs post-flight) using Inspiration4 SOMA data?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Objectives:</a:t>
            </a:r>
          </a:p>
          <a:p>
            <a:pPr lvl="1" algn="just"/>
            <a:r>
              <a:rPr lang="en-IN" dirty="0"/>
              <a:t>Develop LIF-based SNN classifier for binary mission-phase prediction.</a:t>
            </a:r>
          </a:p>
          <a:p>
            <a:pPr lvl="1" algn="just"/>
            <a:r>
              <a:rPr lang="en-IN" dirty="0"/>
              <a:t>Compare performance with Random Forest and MLP baselines.</a:t>
            </a:r>
          </a:p>
          <a:p>
            <a:pPr lvl="1" algn="just"/>
            <a:r>
              <a:rPr lang="en-IN" dirty="0"/>
              <a:t>Demonstrate neuromorphic viability for energy-efficient astronaut monitoring.</a:t>
            </a:r>
          </a:p>
          <a:p>
            <a:pPr algn="just"/>
            <a:endParaRPr lang="en-IN" dirty="0"/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C9494C51-E043-7423-7B3B-7E5FAA0DD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17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1747-D000-4E01-AF9C-245F8B35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212725"/>
            <a:ext cx="10515600" cy="1325563"/>
          </a:xfrm>
        </p:spPr>
        <p:txBody>
          <a:bodyPr/>
          <a:lstStyle/>
          <a:p>
            <a:r>
              <a:rPr lang="en-US" b="1" dirty="0"/>
              <a:t>Literature Survey</a:t>
            </a: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3CCBCA-51F3-0E2C-84E0-850832B156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239754"/>
              </p:ext>
            </p:extLst>
          </p:nvPr>
        </p:nvGraphicFramePr>
        <p:xfrm>
          <a:off x="254000" y="1410759"/>
          <a:ext cx="11590867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534">
                  <a:extLst>
                    <a:ext uri="{9D8B030D-6E8A-4147-A177-3AD203B41FA5}">
                      <a16:colId xmlns:a16="http://schemas.microsoft.com/office/drawing/2014/main" val="1070791183"/>
                    </a:ext>
                  </a:extLst>
                </a:gridCol>
                <a:gridCol w="2683933">
                  <a:extLst>
                    <a:ext uri="{9D8B030D-6E8A-4147-A177-3AD203B41FA5}">
                      <a16:colId xmlns:a16="http://schemas.microsoft.com/office/drawing/2014/main" val="3824803209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3202814828"/>
                    </a:ext>
                  </a:extLst>
                </a:gridCol>
                <a:gridCol w="1337734">
                  <a:extLst>
                    <a:ext uri="{9D8B030D-6E8A-4147-A177-3AD203B41FA5}">
                      <a16:colId xmlns:a16="http://schemas.microsoft.com/office/drawing/2014/main" val="3806718490"/>
                    </a:ext>
                  </a:extLst>
                </a:gridCol>
                <a:gridCol w="2726266">
                  <a:extLst>
                    <a:ext uri="{9D8B030D-6E8A-4147-A177-3AD203B41FA5}">
                      <a16:colId xmlns:a16="http://schemas.microsoft.com/office/drawing/2014/main" val="4277574016"/>
                    </a:ext>
                  </a:extLst>
                </a:gridCol>
                <a:gridCol w="2446867">
                  <a:extLst>
                    <a:ext uri="{9D8B030D-6E8A-4147-A177-3AD203B41FA5}">
                      <a16:colId xmlns:a16="http://schemas.microsoft.com/office/drawing/2014/main" val="72500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of Publishing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 Used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Limtations</a:t>
                      </a:r>
                      <a:r>
                        <a:rPr lang="en-US" dirty="0"/>
                        <a:t> of this 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3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Spiking Neural Networks and Applications: A Review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Tavanaei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Reviews SNN models, STDP, surrogate gradients for vision, robotics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SOMA/spaceflight data; generic applications only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69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Networks of Spiking Neurons: Third Generation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Introduces SNNs with temporal processing capabilities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Purely theoretical; predates deep learning and space datasets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8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Medical Data Analysis Based on SNNs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Zhang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Surveys SNN methods for EEG, ECG, EMG with encoding strategies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Generic medical data; no space medicine or SOMA datasets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419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SNNs for Biomedical Signal Analysis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Reviews SNN applications for physiological signals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Terrestrial biomedical only; no microgravity data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7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SNNs for Physiological and Speech Signals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Liang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Summarizes SNN architectures for event-driven computation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NASA SOMA datasets; general signals only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541414"/>
                  </a:ext>
                </a:extLst>
              </a:tr>
            </a:tbl>
          </a:graphicData>
        </a:graphic>
      </p:graphicFrame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69CF1C8B-F2D9-73A4-537C-923FCAC3A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150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0EFB-1D49-60C2-0DDC-BDAC1D76B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471B-29EC-8F2C-99B6-92CB4426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229659"/>
            <a:ext cx="10515600" cy="1325563"/>
          </a:xfrm>
        </p:spPr>
        <p:txBody>
          <a:bodyPr/>
          <a:lstStyle/>
          <a:p>
            <a:r>
              <a:rPr lang="en-US" b="1" dirty="0"/>
              <a:t>Literature Survey</a:t>
            </a:r>
            <a:endParaRPr lang="en-IN" b="1" dirty="0"/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45EF0164-2540-2F6B-3FE3-451E85C8C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8437E3-26EE-EFAE-4873-1093B42199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6934077"/>
              </p:ext>
            </p:extLst>
          </p:nvPr>
        </p:nvGraphicFramePr>
        <p:xfrm>
          <a:off x="245533" y="1495425"/>
          <a:ext cx="11726333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079118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824803209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320281482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06718490"/>
                    </a:ext>
                  </a:extLst>
                </a:gridCol>
                <a:gridCol w="2785533">
                  <a:extLst>
                    <a:ext uri="{9D8B030D-6E8A-4147-A177-3AD203B41FA5}">
                      <a16:colId xmlns:a16="http://schemas.microsoft.com/office/drawing/2014/main" val="4277574016"/>
                    </a:ext>
                  </a:extLst>
                </a:gridCol>
                <a:gridCol w="2633133">
                  <a:extLst>
                    <a:ext uri="{9D8B030D-6E8A-4147-A177-3AD203B41FA5}">
                      <a16:colId xmlns:a16="http://schemas.microsoft.com/office/drawing/2014/main" val="72500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of Publishing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 Used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Limtations</a:t>
                      </a:r>
                      <a:r>
                        <a:rPr lang="en-US" dirty="0"/>
                        <a:t> of this 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3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Loihi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Neuromorphic Manycore Processor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Davies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Intel's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Loihi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chip for energy-efficient SNN deployment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Hardware-focused; no astronaut health applications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69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TrueNorth: 65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mW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1M-Neuron Chip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Akopyan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IBM's TrueNorth for low-power SNN inference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tested on SOMA or space health data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8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Space Omics and Medical Atlas (SOMA)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Overbey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Integrated multi-omics repository from spaceflight missions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Infrastructure only; no ML/SNN models implemented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419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Single-Cell Multi-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Inspiration4 Crew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Kim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omic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immune profiling of astronauts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Classical statistics; no SNNs or mission-phase classifier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7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Cosmic Kidney Disease: Pan-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Omic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Analysis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Garrett-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Bakelman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Integrates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omic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layers for kidney changes during spaceflight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Traditional bioinformatics; no neuromorphic models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860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361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4782-4B33-67C0-C34B-0EF037EA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4" y="229660"/>
            <a:ext cx="10515600" cy="1108074"/>
          </a:xfrm>
        </p:spPr>
        <p:txBody>
          <a:bodyPr/>
          <a:lstStyle/>
          <a:p>
            <a:r>
              <a:rPr lang="en-US" b="1" dirty="0"/>
              <a:t>Dataset/s Description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D8276-F9E2-D6BE-583A-ED6400DF5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754563"/>
          </a:xfrm>
        </p:spPr>
        <p:txBody>
          <a:bodyPr>
            <a:normAutofit/>
          </a:bodyPr>
          <a:lstStyle/>
          <a:p>
            <a:r>
              <a:rPr lang="en-US" b="1" dirty="0"/>
              <a:t>Dataset-1 : </a:t>
            </a:r>
            <a:r>
              <a:rPr lang="en-IN" dirty="0"/>
              <a:t>NASA Inspiration4 SOMA Plasma Metadata (OSD-569)</a:t>
            </a:r>
            <a:endParaRPr lang="en-US" b="1" dirty="0"/>
          </a:p>
          <a:p>
            <a:pPr lvl="1"/>
            <a:r>
              <a:rPr lang="en-US" b="1" dirty="0"/>
              <a:t>Total no of Samples: </a:t>
            </a:r>
            <a:r>
              <a:rPr lang="en-IN" dirty="0"/>
              <a:t>560</a:t>
            </a:r>
            <a:endParaRPr lang="en-US" b="1" dirty="0"/>
          </a:p>
          <a:p>
            <a:pPr lvl="1"/>
            <a:r>
              <a:rPr lang="en-US" b="1" dirty="0"/>
              <a:t>Training Samples: </a:t>
            </a:r>
            <a:r>
              <a:rPr lang="en-IN" dirty="0"/>
              <a:t>336 (60%)</a:t>
            </a:r>
            <a:endParaRPr lang="en-US" b="1" dirty="0"/>
          </a:p>
          <a:p>
            <a:pPr lvl="1"/>
            <a:r>
              <a:rPr lang="en-US" b="1" dirty="0"/>
              <a:t>Validation Samples: </a:t>
            </a:r>
            <a:r>
              <a:rPr lang="en-IN" dirty="0"/>
              <a:t>112 (20%)</a:t>
            </a:r>
            <a:endParaRPr lang="en-US" b="1" dirty="0"/>
          </a:p>
          <a:p>
            <a:pPr lvl="1"/>
            <a:r>
              <a:rPr lang="en-US" b="1" dirty="0"/>
              <a:t>Testing Samples: </a:t>
            </a:r>
            <a:r>
              <a:rPr lang="en-IN" dirty="0"/>
              <a:t>112 (20%)</a:t>
            </a:r>
          </a:p>
          <a:p>
            <a:pPr marL="457200" lvl="1" indent="0">
              <a:buNone/>
            </a:pPr>
            <a:endParaRPr lang="en-US" b="1" dirty="0"/>
          </a:p>
          <a:p>
            <a:r>
              <a:rPr lang="en-US" b="1" dirty="0"/>
              <a:t>Labels Format :</a:t>
            </a:r>
          </a:p>
          <a:p>
            <a:pPr lvl="1"/>
            <a:r>
              <a:rPr lang="en-IN" dirty="0"/>
              <a:t>Binary Classification: 0 = Pre-flight | 1 = Post-flight</a:t>
            </a:r>
          </a:p>
          <a:p>
            <a:pPr lvl="1"/>
            <a:r>
              <a:rPr lang="en-IN" dirty="0"/>
              <a:t>Class Distribution: Class 0 (Pre-flight): 240 samples | Class 1 (Post-flight): 320 samples</a:t>
            </a:r>
          </a:p>
          <a:p>
            <a:pPr lvl="1"/>
            <a:r>
              <a:rPr lang="en-IN" dirty="0"/>
              <a:t>Label Balance Ratio: ~43% Pre-flight, ~57% Post-flight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BD169822-8ACE-0A8D-E365-54C4C07C1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9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01223-7EBA-32D3-A4E0-356DC734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Few samples of Dataset:</a:t>
            </a:r>
            <a:endParaRPr lang="en-IN" sz="28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30EDF83-2110-E841-452C-AB2FD5BBA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238649"/>
              </p:ext>
            </p:extLst>
          </p:nvPr>
        </p:nvGraphicFramePr>
        <p:xfrm>
          <a:off x="863599" y="1952626"/>
          <a:ext cx="10515600" cy="2773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40840340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736084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003753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147355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65871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Subject ID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Mission Day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Sex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Mission Phase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Label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2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I4-001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-90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Male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Pre-flight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61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I4-002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-45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Female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Pre-flight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361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I4-003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+60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Male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Post-flight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00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I4-004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+120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Male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Post-flight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51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I4-005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-15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Female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Pre-flight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5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I4-006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+180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Female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Post-flight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062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454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FB66-82AD-DB53-6204-CA67BBAA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3526-8886-BB89-CBFF-D27AAC48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33" y="212725"/>
            <a:ext cx="10515600" cy="1325563"/>
          </a:xfrm>
        </p:spPr>
        <p:txBody>
          <a:bodyPr/>
          <a:lstStyle/>
          <a:p>
            <a:r>
              <a:rPr lang="en-US" b="1" dirty="0"/>
              <a:t>Dataset/s Description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3299-E998-4C0C-AEFD-5B8F16468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71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Dataset-2 : </a:t>
            </a:r>
            <a:r>
              <a:rPr lang="en-US" dirty="0"/>
              <a:t>NASA Inspiration4 Whole Blood Multi-Omics (Future Extension)</a:t>
            </a:r>
            <a:endParaRPr lang="en-US" b="1" dirty="0"/>
          </a:p>
          <a:p>
            <a:pPr lvl="1"/>
            <a:r>
              <a:rPr lang="en-US" b="1" dirty="0"/>
              <a:t>Total no of Samples: </a:t>
            </a:r>
            <a:r>
              <a:rPr lang="en-IN" dirty="0"/>
              <a:t>1,200</a:t>
            </a:r>
            <a:endParaRPr lang="en-US" b="1" dirty="0"/>
          </a:p>
          <a:p>
            <a:pPr lvl="1"/>
            <a:r>
              <a:rPr lang="en-US" b="1" dirty="0"/>
              <a:t>Training Samples: </a:t>
            </a:r>
            <a:r>
              <a:rPr lang="en-IN" dirty="0"/>
              <a:t>720 (60%)</a:t>
            </a:r>
            <a:endParaRPr lang="en-US" b="1" dirty="0"/>
          </a:p>
          <a:p>
            <a:pPr lvl="1"/>
            <a:r>
              <a:rPr lang="en-US" b="1" dirty="0"/>
              <a:t>Validation Samples: </a:t>
            </a:r>
            <a:r>
              <a:rPr lang="en-IN" dirty="0"/>
              <a:t>240 (20%)</a:t>
            </a:r>
            <a:endParaRPr lang="en-US" b="1" dirty="0"/>
          </a:p>
          <a:p>
            <a:pPr lvl="1"/>
            <a:r>
              <a:rPr lang="en-US" b="1" dirty="0"/>
              <a:t>Testing Samples: </a:t>
            </a:r>
            <a:r>
              <a:rPr lang="en-IN" dirty="0"/>
              <a:t>240 (20%)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Labels Format :</a:t>
            </a:r>
          </a:p>
          <a:p>
            <a:pPr lvl="1"/>
            <a:r>
              <a:rPr lang="en-IN" dirty="0"/>
              <a:t>Multi-Class Classification: 0 = Pre-flight | 1 = In-flight | 2 = Early Post-flight | 3 = Late Post-flight</a:t>
            </a:r>
          </a:p>
          <a:p>
            <a:pPr lvl="1"/>
            <a:r>
              <a:rPr lang="en-IN" dirty="0"/>
              <a:t>Class Distribution: Balanced across 4 phases (~300 samples each)</a:t>
            </a:r>
          </a:p>
          <a:p>
            <a:pPr lvl="1"/>
            <a:r>
              <a:rPr lang="en-IN" dirty="0"/>
              <a:t>Label Granularity: Fine-grained temporal phases</a:t>
            </a:r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FBA9D96B-9F1D-94FA-1B71-B8D9AC7A4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686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E90D-F374-D6AA-489C-D5200443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Few samples of Dataset: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6AE5D6-7CB4-5D90-B10C-BD6AA8063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778069"/>
              </p:ext>
            </p:extLst>
          </p:nvPr>
        </p:nvGraphicFramePr>
        <p:xfrm>
          <a:off x="889001" y="2053961"/>
          <a:ext cx="10515600" cy="277368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9556239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358045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6546061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009928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569019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36204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Subject ID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Mission Day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Gene Expression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Protein Count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Phase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Label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91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I4-001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-60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15,234 genes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3,456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Pre-flight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I4-002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+2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15,189 genes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3,501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In-flight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73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I4-003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+45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15,412 genes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3,389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Early Post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870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I4-004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+150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15,298 genes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3,421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Late Post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76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effectLst/>
                        </a:rPr>
                        <a:t>I4-005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-30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15,356 genes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3,409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In-flight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614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effectLst/>
                        </a:rPr>
                        <a:t>I4-006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+90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15,209 genes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3,539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effectLst/>
                        </a:rPr>
                        <a:t>Early Post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180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33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C621-2513-8129-6BC0-C9231872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/>
          <a:lstStyle/>
          <a:p>
            <a:r>
              <a:rPr lang="en-US" b="1" dirty="0"/>
              <a:t>Methodology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85BC8-8262-FE8C-650A-135BF9061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1591734"/>
            <a:ext cx="10515600" cy="47206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 Preprocessing:</a:t>
            </a:r>
          </a:p>
          <a:p>
            <a:pPr lvl="1"/>
            <a:r>
              <a:rPr lang="en-IN" dirty="0"/>
              <a:t>Feature standardization (zero mean, unit variance)</a:t>
            </a:r>
          </a:p>
          <a:p>
            <a:pPr lvl="1"/>
            <a:r>
              <a:rPr lang="en-IN" dirty="0"/>
              <a:t>Stratified train/</a:t>
            </a:r>
            <a:r>
              <a:rPr lang="en-IN" dirty="0" err="1"/>
              <a:t>val</a:t>
            </a:r>
            <a:r>
              <a:rPr lang="en-IN" dirty="0"/>
              <a:t>/test splits (60/20/20)</a:t>
            </a:r>
          </a:p>
          <a:p>
            <a:pPr lvl="1"/>
            <a:r>
              <a:rPr lang="en-IN" dirty="0"/>
              <a:t>Class-balanced sampling</a:t>
            </a:r>
          </a:p>
          <a:p>
            <a:pPr marL="457200" lvl="1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Spike Encoding Strategy:</a:t>
            </a:r>
          </a:p>
          <a:p>
            <a:pPr lvl="1"/>
            <a:r>
              <a:rPr lang="en-IN" dirty="0"/>
              <a:t>Rate-based encoding: Feature values → spike rates</a:t>
            </a:r>
          </a:p>
          <a:p>
            <a:pPr lvl="1"/>
            <a:r>
              <a:rPr lang="en-IN" dirty="0"/>
              <a:t>Temporal unrolling over 20 timesteps</a:t>
            </a:r>
          </a:p>
          <a:p>
            <a:pPr lvl="1"/>
            <a:r>
              <a:rPr lang="en-IN" dirty="0"/>
              <a:t>Poisson-like spike generation</a:t>
            </a: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C912CFD1-19F9-57DE-E49F-BFBB2DC05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603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40D2E-6D45-4AD7-79B2-51A49A0C2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945091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Training Configuration:</a:t>
            </a:r>
          </a:p>
          <a:p>
            <a:pPr lvl="1"/>
            <a:r>
              <a:rPr lang="en-IN" dirty="0"/>
              <a:t>Epochs: 120 (with early stopping)</a:t>
            </a:r>
          </a:p>
          <a:p>
            <a:pPr lvl="1"/>
            <a:r>
              <a:rPr lang="en-IN" dirty="0"/>
              <a:t>Batch Size: 32</a:t>
            </a:r>
          </a:p>
          <a:p>
            <a:pPr lvl="1"/>
            <a:r>
              <a:rPr lang="en-IN" dirty="0"/>
              <a:t>Hardware: GPU-enabled training (</a:t>
            </a:r>
            <a:r>
              <a:rPr lang="en-IN" dirty="0" err="1"/>
              <a:t>PyTorch</a:t>
            </a:r>
            <a:r>
              <a:rPr lang="en-IN" dirty="0"/>
              <a:t> + </a:t>
            </a:r>
            <a:r>
              <a:rPr lang="en-IN" dirty="0" err="1"/>
              <a:t>snnTorch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Regularization: Weight decay + dropout (0.2)</a:t>
            </a:r>
          </a:p>
          <a:p>
            <a:pPr marL="457200" lvl="1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Evaluation Metrics:</a:t>
            </a:r>
          </a:p>
          <a:p>
            <a:pPr lvl="1"/>
            <a:r>
              <a:rPr lang="en-IN" dirty="0"/>
              <a:t>Accuracy, Precision, Recall, Macro F1-score</a:t>
            </a:r>
          </a:p>
          <a:p>
            <a:pPr lvl="1"/>
            <a:r>
              <a:rPr lang="en-IN" dirty="0"/>
              <a:t>Confusion matrices, ROC-AUC curves</a:t>
            </a:r>
          </a:p>
          <a:p>
            <a:pPr lvl="1"/>
            <a:r>
              <a:rPr lang="en-IN" dirty="0"/>
              <a:t>Training/validation loss curves</a:t>
            </a:r>
          </a:p>
          <a:p>
            <a:pPr lvl="1"/>
            <a:r>
              <a:rPr lang="en-US" dirty="0" err="1"/>
              <a:t>ture</a:t>
            </a:r>
            <a:r>
              <a:rPr lang="en-US" dirty="0"/>
              <a:t> should be there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846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30F7B-1334-20B0-3B25-E10072D5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88925"/>
            <a:ext cx="10515600" cy="1325563"/>
          </a:xfrm>
        </p:spPr>
        <p:txBody>
          <a:bodyPr/>
          <a:lstStyle/>
          <a:p>
            <a:r>
              <a:rPr lang="en-US" b="1" dirty="0"/>
              <a:t>Results and Discussions</a:t>
            </a:r>
            <a:endParaRPr lang="en-IN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FCAC14-E6AE-5E1F-EC5D-72C87039B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453385"/>
              </p:ext>
            </p:extLst>
          </p:nvPr>
        </p:nvGraphicFramePr>
        <p:xfrm>
          <a:off x="838200" y="2048882"/>
          <a:ext cx="10515600" cy="1584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3715385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157534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874331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25740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76848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Model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Accuracy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Precision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Recall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F1-Score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81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Random Forest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0.84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0.87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280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MLP Baseline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76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SNN (LIF)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0.86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0.87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0.86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0.88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496445"/>
                  </a:ext>
                </a:extLst>
              </a:tr>
            </a:tbl>
          </a:graphicData>
        </a:graphic>
      </p:graphicFrame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F64FBAE5-C455-1AAE-C1CA-BD383C9D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47E9B5-E66E-A3CD-8B20-9CD08B5D8439}"/>
              </a:ext>
            </a:extLst>
          </p:cNvPr>
          <p:cNvSpPr txBox="1"/>
          <p:nvPr/>
        </p:nvSpPr>
        <p:spPr>
          <a:xfrm>
            <a:off x="1041399" y="4267201"/>
            <a:ext cx="1084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SNN outperforms both baselines on test accuracy (+2%)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Superior F1-score indicates better precision-recall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Competitive performance with potential for neuromorphic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Stable training convergence with minimal overfitting</a:t>
            </a:r>
          </a:p>
        </p:txBody>
      </p:sp>
    </p:spTree>
    <p:extLst>
      <p:ext uri="{BB962C8B-B14F-4D97-AF65-F5344CB8AC3E}">
        <p14:creationId xmlns:p14="http://schemas.microsoft.com/office/powerpoint/2010/main" val="1292330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7715E8-FB95-083F-E4BB-EF404CEA7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710" r="10652"/>
          <a:stretch>
            <a:fillRect/>
          </a:stretch>
        </p:blipFill>
        <p:spPr>
          <a:xfrm>
            <a:off x="287866" y="1597026"/>
            <a:ext cx="4885267" cy="3745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D40E56-EF2B-61C6-BCCB-4E95F9AC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Visualizations</a:t>
            </a:r>
            <a:endParaRPr lang="en-IN" b="1" dirty="0"/>
          </a:p>
        </p:txBody>
      </p:sp>
      <p:pic>
        <p:nvPicPr>
          <p:cNvPr id="6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6FD1BCDF-5F19-E577-5CF5-5D6189956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04562-EFBF-6624-2812-6BE69FAD7E83}"/>
              </a:ext>
            </a:extLst>
          </p:cNvPr>
          <p:cNvSpPr txBox="1"/>
          <p:nvPr/>
        </p:nvSpPr>
        <p:spPr>
          <a:xfrm>
            <a:off x="5774267" y="2277534"/>
            <a:ext cx="5664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Smooth convergence: Both training and validation loss decrease steadily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Minimal overfitting: Val loss tracks train loss closely (gap &lt; 0.05)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Final convergence: Train loss ~0.40, Val loss ~0.45 at epoch 120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Training stability: No erratic oscillations, indicating effective surrogate gradient method</a:t>
            </a:r>
          </a:p>
        </p:txBody>
      </p:sp>
    </p:spTree>
    <p:extLst>
      <p:ext uri="{BB962C8B-B14F-4D97-AF65-F5344CB8AC3E}">
        <p14:creationId xmlns:p14="http://schemas.microsoft.com/office/powerpoint/2010/main" val="2344424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7C3A-E8CA-0FAE-4139-F413868D1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B446-8E2B-B677-1B37-47C6812C8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792"/>
            <a:ext cx="10515600" cy="1325563"/>
          </a:xfrm>
        </p:spPr>
        <p:txBody>
          <a:bodyPr/>
          <a:lstStyle/>
          <a:p>
            <a:r>
              <a:rPr lang="en-US" b="1" dirty="0"/>
              <a:t>Visualizations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8D146B-37C8-EFEC-002E-E252D1B71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511" y="1273712"/>
            <a:ext cx="7735380" cy="3677163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47A18160-DEFF-F91E-49F9-8A44D3739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0E976-E4B5-5639-7362-2F915CADAAD3}"/>
              </a:ext>
            </a:extLst>
          </p:cNvPr>
          <p:cNvSpPr txBox="1"/>
          <p:nvPr/>
        </p:nvSpPr>
        <p:spPr>
          <a:xfrm>
            <a:off x="838200" y="5232400"/>
            <a:ext cx="100668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SNN Superior True Positive Rate: SNN correctly identifies 34/38 post-flight samples (89.5%) vs RF's 32/38 (84.2%)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Fewer False Negatives in SNN: SNN misses only 4 post-flight cases compared to RF's 6, critical for health risk detection</a:t>
            </a:r>
          </a:p>
        </p:txBody>
      </p:sp>
    </p:spTree>
    <p:extLst>
      <p:ext uri="{BB962C8B-B14F-4D97-AF65-F5344CB8AC3E}">
        <p14:creationId xmlns:p14="http://schemas.microsoft.com/office/powerpoint/2010/main" val="2395989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06C2D-9C0B-0ED3-7077-683BB2879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5B52-F262-97D1-A115-5E3AE1FF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Visualizations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DD66B9-7DCC-E557-BB33-196F0CB6C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47" y="1692795"/>
            <a:ext cx="5888624" cy="4064538"/>
          </a:xfrm>
          <a:prstGeom prst="rect">
            <a:avLst/>
          </a:prstGeom>
        </p:spPr>
      </p:pic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80E852E4-E543-E110-3315-739383967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9BE337-B5C9-9D7E-EA54-529B0DF5AE2D}"/>
              </a:ext>
            </a:extLst>
          </p:cNvPr>
          <p:cNvSpPr txBox="1"/>
          <p:nvPr/>
        </p:nvSpPr>
        <p:spPr>
          <a:xfrm>
            <a:off x="6163734" y="1811867"/>
            <a:ext cx="58589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SNN Leads in Both Metrics: Highest accuracy (86%) and F1-score (0.88) compared to RF (84%, 0.87) and MLP (84%, 0.86)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Consistent Superiority: SNN outperforms across all evaluation criteria, demonstrating neuromorphic advantage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MLP vs RF Comparable: Traditional baselines show nearly identical performance, validating fair comparison setup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Neuromorphic Viability Confirmed: SNN matches/exceeds conventional models while offering energy-efficiency potential for spacecraft deployment</a:t>
            </a:r>
          </a:p>
        </p:txBody>
      </p:sp>
    </p:spTree>
    <p:extLst>
      <p:ext uri="{BB962C8B-B14F-4D97-AF65-F5344CB8AC3E}">
        <p14:creationId xmlns:p14="http://schemas.microsoft.com/office/powerpoint/2010/main" val="1712586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AD26-E5F5-5973-A0EC-13F88AF4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E274-7001-7673-4CC1-EFEFA1B6B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2020359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IN" sz="2200" dirty="0"/>
              <a:t>First Neuromorphic Pipeline for Space Health: Successfully demonstrated end-to-end SNN implementation on real NASA Inspiration4 SOMA data, achieving 86% accuracy in mission-phase classification</a:t>
            </a:r>
          </a:p>
          <a:p>
            <a:pPr algn="just"/>
            <a:r>
              <a:rPr lang="en-IN" sz="2200" dirty="0"/>
              <a:t>Competitive Performance with Energy Potential: SNN matches/exceeds traditional ML baselines (RF: 84%, MLP: 84%) while offering event-driven computation suitable for low-power spacecraft deployment</a:t>
            </a:r>
          </a:p>
          <a:p>
            <a:pPr algn="just"/>
            <a:r>
              <a:rPr lang="en-IN" sz="2200" dirty="0"/>
              <a:t>Validated Temporal </a:t>
            </a:r>
            <a:r>
              <a:rPr lang="en-IN" sz="2200" dirty="0" err="1"/>
              <a:t>Modeling</a:t>
            </a:r>
            <a:r>
              <a:rPr lang="en-IN" sz="2200" dirty="0"/>
              <a:t> Approach: LIF neurons with surrogate gradient training effectively capture spaceflight-induced physiological dynamics, bridging gap between neuromorphic computing and astronaut health monitoring</a:t>
            </a: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B6E19936-D67B-7AB4-82C7-2A58CF2B7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482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8FD8-60D3-06D0-30DF-812A593B9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8036"/>
          </a:xfrm>
        </p:spPr>
        <p:txBody>
          <a:bodyPr/>
          <a:lstStyle/>
          <a:p>
            <a:r>
              <a:rPr lang="en-US" b="1" dirty="0"/>
              <a:t>Pending Tasks from Project after Review-1</a:t>
            </a: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0B00FC5-1909-B99A-AF5F-C9929135F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772135"/>
              </p:ext>
            </p:extLst>
          </p:nvPr>
        </p:nvGraphicFramePr>
        <p:xfrm>
          <a:off x="838200" y="1825625"/>
          <a:ext cx="1051559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832716458"/>
                    </a:ext>
                  </a:extLst>
                </a:gridCol>
                <a:gridCol w="5968998">
                  <a:extLst>
                    <a:ext uri="{9D8B030D-6E8A-4147-A177-3AD203B41FA5}">
                      <a16:colId xmlns:a16="http://schemas.microsoft.com/office/drawing/2014/main" val="396155026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63944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of Completion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458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Multi-omics feature integration (gene expression, proteomics, metabolomics) for richer astronaut health profiling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IN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March 2026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503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Neuromorphic hardware deployment on Intel </a:t>
                      </a:r>
                      <a:r>
                        <a:rPr lang="en-US" dirty="0" err="1">
                          <a:effectLst/>
                        </a:rPr>
                        <a:t>Loihi</a:t>
                      </a:r>
                      <a:r>
                        <a:rPr lang="en-US" dirty="0">
                          <a:effectLst/>
                        </a:rPr>
                        <a:t>/IBM TrueNorth with energy profiling and latency benchmarking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IN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March 2026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571776"/>
                  </a:ext>
                </a:extLst>
              </a:tr>
            </a:tbl>
          </a:graphicData>
        </a:graphic>
      </p:graphicFrame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B0F6F361-1093-7C95-7229-E3F06B733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688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62FBC-3687-87C7-FC7F-277D448EF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Thank You</a:t>
            </a:r>
            <a:endParaRPr lang="en-IN" sz="5400" dirty="0"/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C6F8CFC0-5307-53E5-1582-E793FE694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781" y="2247589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11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1257</Words>
  <Application>Microsoft Office PowerPoint</Application>
  <PresentationFormat>Widescreen</PresentationFormat>
  <Paragraphs>277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Spiking Neural Networks for Astronaut Health</vt:lpstr>
      <vt:lpstr>Table of Contents</vt:lpstr>
      <vt:lpstr>Introduction</vt:lpstr>
      <vt:lpstr>Problem Statement</vt:lpstr>
      <vt:lpstr>Literature Survey</vt:lpstr>
      <vt:lpstr>Literature Survey</vt:lpstr>
      <vt:lpstr>Dataset/s Description</vt:lpstr>
      <vt:lpstr>Few samples of Dataset:</vt:lpstr>
      <vt:lpstr>Dataset/s Description</vt:lpstr>
      <vt:lpstr>Few samples of Dataset:</vt:lpstr>
      <vt:lpstr>Methodology</vt:lpstr>
      <vt:lpstr>PowerPoint Presentation</vt:lpstr>
      <vt:lpstr>Results and Discussions</vt:lpstr>
      <vt:lpstr>Visualizations</vt:lpstr>
      <vt:lpstr>Visualizations</vt:lpstr>
      <vt:lpstr>Visualizations</vt:lpstr>
      <vt:lpstr>Conclusions</vt:lpstr>
      <vt:lpstr>Pending Tasks from Project after Review-1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Jyothsna Datti</dc:creator>
  <cp:lastModifiedBy>Dhanush P</cp:lastModifiedBy>
  <cp:revision>11</cp:revision>
  <dcterms:created xsi:type="dcterms:W3CDTF">2026-02-05T06:38:40Z</dcterms:created>
  <dcterms:modified xsi:type="dcterms:W3CDTF">2026-02-05T13:28:35Z</dcterms:modified>
</cp:coreProperties>
</file>