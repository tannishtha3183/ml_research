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72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7298D-7490-4E61-B68F-D36E9FD99C31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D39D2401-EEBB-4BCA-AC4E-64E49AA3C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0297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7298D-7490-4E61-B68F-D36E9FD99C31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D2401-EEBB-4BCA-AC4E-64E49AA3C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6240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25E7298D-7490-4E61-B68F-D36E9FD99C31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D39D2401-EEBB-4BCA-AC4E-64E49AA3C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810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7298D-7490-4E61-B68F-D36E9FD99C31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D2401-EEBB-4BCA-AC4E-64E49AA3C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43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7298D-7490-4E61-B68F-D36E9FD99C31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D2401-EEBB-4BCA-AC4E-64E49AA3C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9741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7298D-7490-4E61-B68F-D36E9FD99C31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D2401-EEBB-4BCA-AC4E-64E49AA3C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642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7298D-7490-4E61-B68F-D36E9FD99C31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D2401-EEBB-4BCA-AC4E-64E49AA3C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4493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7298D-7490-4E61-B68F-D36E9FD99C31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D2401-EEBB-4BCA-AC4E-64E49AA3C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109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7298D-7490-4E61-B68F-D36E9FD99C31}" type="datetimeFigureOut">
              <a:rPr lang="en-IN" smtClean="0"/>
              <a:t>31-03-2026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D2401-EEBB-4BCA-AC4E-64E49AA3C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970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7298D-7490-4E61-B68F-D36E9FD99C31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D2401-EEBB-4BCA-AC4E-64E49AA3C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491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7298D-7490-4E61-B68F-D36E9FD99C31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D2401-EEBB-4BCA-AC4E-64E49AA3C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275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25E7298D-7490-4E61-B68F-D36E9FD99C31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n-lt"/>
              </a:defRPr>
            </a:lvl1pPr>
          </a:lstStyle>
          <a:p>
            <a:fld id="{D39D2401-EEBB-4BCA-AC4E-64E49AA3C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68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EE503-3B97-41E1-9941-209C118B1C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5400" b="1" dirty="0"/>
              <a:t>Spiking Neural Networks for Astronaut Health Monitoring</a:t>
            </a:r>
            <a:br>
              <a:rPr lang="en-US" sz="5400" dirty="0"/>
            </a:br>
            <a:r>
              <a:rPr lang="en-US" sz="1200" dirty="0"/>
              <a:t>Neuromorphic AI for Space Applications</a:t>
            </a:r>
            <a:endParaRPr lang="en-IN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DF0CEE-6BDD-42EB-AE46-78C5666B4B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1560" y="4890853"/>
            <a:ext cx="7891272" cy="106984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Tannishtha Verma – 2420080098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 – 2420080002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7491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FB9A8-E5D8-4EDA-B4D2-6D62BF62A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Motivation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3E9FB59-905A-4293-9C0F-2C5FA2CD43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9848" y="2100092"/>
            <a:ext cx="992137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Astronaut health is critical during missions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is limited, conditions are extreme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AI: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power consumption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suitable for onboard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“Space missions demand systems that are not just intelligent, but also energy-efficient.” </a:t>
            </a:r>
          </a:p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“Even small improvements in monitoring can prevent critical health risks.”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1052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4A001-AFE7-4A50-9A10-163F92C7F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Problem Definition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D9BDE91-6BA6-43C8-AAC5-4045D63FEB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9848" y="2118556"/>
            <a:ext cx="9017597" cy="405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Classify astronaut condition: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Pre-flight vs Post-flight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Small dataset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temporal structure </a:t>
            </a:r>
          </a:p>
          <a:p>
            <a:pPr marL="0" indent="0" algn="ctr">
              <a:buNone/>
            </a:pP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“The challenge is not just prediction, but reliable prediction under constraints.” </a:t>
            </a:r>
          </a:p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“Generalizing across different astronaut datasets is a key difficulty.”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303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5A5A6-E91C-4F30-B79E-489570968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Our Approach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1985B2E-AB5B-43E9-A4A0-C18BF125CD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9848" y="1746146"/>
            <a:ext cx="9496702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Selected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Spiking Neural Networks (SNN)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idea: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 static data →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temporal spikes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Mimics brain processing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Works well for time-based patterns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Energy efficient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using conventional models, We explored a brain-inspired approach.” </a:t>
            </a:r>
          </a:p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“SNNs allow us to introduce the concept of time into static biomedical data.” </a:t>
            </a:r>
          </a:p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“This transforms the problem from static classification to temporal understanding.”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44431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AA627-CD42-4493-BF43-270A9FC93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Implementation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1A1A715-1E2E-4A0C-8A21-1BEA796BE2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9848" y="2577145"/>
            <a:ext cx="969073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pipeline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Spike encoding using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Poisson method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Designed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SNN architecture (LIF neurons)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Implemented using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snnTorch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baseline models (RF, MLP) for comparison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“The entire pipeline was designed and implemented from scratch.”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“Special focus was given to converting tabular data into spike-based representations.”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4324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C749F-DA00-4E5C-B82C-39EDE6FFB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Improvements After Review-1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DC7A213-9742-4321-A03D-D00D374574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9848" y="2115478"/>
            <a:ext cx="9498754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Identified limitations in initial model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Added: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SMOTE for data balancing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Temporal tuning (timesteps, β)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Tested on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 dataset (OSD-571)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Performed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cross-dataset validation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“After Review-1, We focused on improving robustness and real-world applicability.” </a:t>
            </a:r>
          </a:p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“Validation on a new dataset ensures the model is not overfitting.”</a:t>
            </a:r>
          </a:p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“This step moves the project from a prototype to a more reliable system.”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0495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EAF28-15DD-4CCC-8562-A62A902B0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Results (Initial Dataset)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03152E6-B9F9-4EF9-AA82-5B3605D2EC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0700263"/>
              </p:ext>
            </p:extLst>
          </p:nvPr>
        </p:nvGraphicFramePr>
        <p:xfrm>
          <a:off x="1069975" y="2423131"/>
          <a:ext cx="10058400" cy="13665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166134718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169533219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1786371987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42531179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5647117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12000"/>
                        </a:lnSpc>
                        <a:spcAft>
                          <a:spcPts val="1060"/>
                        </a:spcAft>
                      </a:pPr>
                      <a:r>
                        <a:rPr lang="en-IN" sz="1200" dirty="0">
                          <a:effectLst/>
                        </a:rPr>
                        <a:t>Model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12000"/>
                        </a:lnSpc>
                        <a:spcAft>
                          <a:spcPts val="1060"/>
                        </a:spcAft>
                      </a:pPr>
                      <a:r>
                        <a:rPr lang="en-IN" sz="1200" dirty="0">
                          <a:effectLst/>
                        </a:rPr>
                        <a:t>Accuracy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12000"/>
                        </a:lnSpc>
                        <a:spcAft>
                          <a:spcPts val="1060"/>
                        </a:spcAft>
                      </a:pPr>
                      <a:r>
                        <a:rPr lang="en-IN" sz="1200">
                          <a:effectLst/>
                        </a:rPr>
                        <a:t>Precision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12000"/>
                        </a:lnSpc>
                        <a:spcAft>
                          <a:spcPts val="1060"/>
                        </a:spcAft>
                      </a:pPr>
                      <a:r>
                        <a:rPr lang="en-IN" sz="1200">
                          <a:effectLst/>
                        </a:rPr>
                        <a:t>Recall</a:t>
                      </a:r>
                      <a:endParaRPr lang="en-IN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12000"/>
                        </a:lnSpc>
                        <a:spcAft>
                          <a:spcPts val="1060"/>
                        </a:spcAft>
                      </a:pPr>
                      <a:r>
                        <a:rPr lang="en-IN" sz="1200">
                          <a:effectLst/>
                        </a:rPr>
                        <a:t>F1-score</a:t>
                      </a:r>
                      <a:endParaRPr lang="en-IN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600335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12000"/>
                        </a:lnSpc>
                        <a:spcAft>
                          <a:spcPts val="1060"/>
                        </a:spcAft>
                      </a:pPr>
                      <a:r>
                        <a:rPr lang="en-IN" sz="1200" dirty="0">
                          <a:effectLst/>
                        </a:rPr>
                        <a:t>Random Forest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12000"/>
                        </a:lnSpc>
                        <a:spcAft>
                          <a:spcPts val="1060"/>
                        </a:spcAft>
                      </a:pPr>
                      <a:r>
                        <a:rPr lang="en-IN" sz="1200">
                          <a:effectLst/>
                        </a:rPr>
                        <a:t>0.8446</a:t>
                      </a:r>
                      <a:endParaRPr lang="en-IN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12000"/>
                        </a:lnSpc>
                        <a:spcAft>
                          <a:spcPts val="1060"/>
                        </a:spcAft>
                      </a:pPr>
                      <a:r>
                        <a:rPr lang="en-IN" sz="1200">
                          <a:effectLst/>
                        </a:rPr>
                        <a:t>0.8226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12000"/>
                        </a:lnSpc>
                        <a:spcAft>
                          <a:spcPts val="1060"/>
                        </a:spcAft>
                      </a:pPr>
                      <a:r>
                        <a:rPr lang="en-IN" sz="1200">
                          <a:effectLst/>
                        </a:rPr>
                        <a:t>0.8421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12000"/>
                        </a:lnSpc>
                        <a:spcAft>
                          <a:spcPts val="1060"/>
                        </a:spcAft>
                      </a:pPr>
                      <a:r>
                        <a:rPr lang="en-IN" sz="1200">
                          <a:effectLst/>
                        </a:rPr>
                        <a:t>0.8686</a:t>
                      </a:r>
                      <a:endParaRPr lang="en-IN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945394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12000"/>
                        </a:lnSpc>
                        <a:spcAft>
                          <a:spcPts val="1060"/>
                        </a:spcAft>
                      </a:pPr>
                      <a:r>
                        <a:rPr lang="en-IN" sz="1200">
                          <a:effectLst/>
                        </a:rPr>
                        <a:t>MLP Baseline</a:t>
                      </a:r>
                      <a:endParaRPr lang="en-IN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12000"/>
                        </a:lnSpc>
                        <a:spcAft>
                          <a:spcPts val="1060"/>
                        </a:spcAft>
                      </a:pPr>
                      <a:r>
                        <a:rPr lang="en-IN" sz="1200">
                          <a:effectLst/>
                        </a:rPr>
                        <a:t>0.8400</a:t>
                      </a:r>
                      <a:endParaRPr lang="en-IN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12000"/>
                        </a:lnSpc>
                        <a:spcAft>
                          <a:spcPts val="1060"/>
                        </a:spcAft>
                      </a:pPr>
                      <a:r>
                        <a:rPr lang="en-IN" sz="1200">
                          <a:effectLst/>
                        </a:rPr>
                        <a:t>0.8300</a:t>
                      </a:r>
                      <a:endParaRPr lang="en-IN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12000"/>
                        </a:lnSpc>
                        <a:spcAft>
                          <a:spcPts val="1060"/>
                        </a:spcAft>
                      </a:pPr>
                      <a:r>
                        <a:rPr lang="en-IN" sz="1200">
                          <a:effectLst/>
                        </a:rPr>
                        <a:t>0.8500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12000"/>
                        </a:lnSpc>
                        <a:spcAft>
                          <a:spcPts val="1060"/>
                        </a:spcAft>
                      </a:pPr>
                      <a:r>
                        <a:rPr lang="en-IN" sz="1200">
                          <a:effectLst/>
                        </a:rPr>
                        <a:t>0.8600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453735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12000"/>
                        </a:lnSpc>
                        <a:spcAft>
                          <a:spcPts val="1060"/>
                        </a:spcAft>
                      </a:pPr>
                      <a:r>
                        <a:rPr lang="en-IN" sz="1200">
                          <a:effectLst/>
                        </a:rPr>
                        <a:t>SNN (Proposed)</a:t>
                      </a:r>
                      <a:endParaRPr lang="en-IN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12000"/>
                        </a:lnSpc>
                        <a:spcAft>
                          <a:spcPts val="1060"/>
                        </a:spcAft>
                      </a:pPr>
                      <a:r>
                        <a:rPr lang="en-IN" sz="1200" dirty="0">
                          <a:effectLst/>
                        </a:rPr>
                        <a:t>0.8600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12000"/>
                        </a:lnSpc>
                        <a:spcAft>
                          <a:spcPts val="1060"/>
                        </a:spcAft>
                      </a:pPr>
                      <a:r>
                        <a:rPr lang="en-IN" sz="1200">
                          <a:effectLst/>
                        </a:rPr>
                        <a:t>0.8543</a:t>
                      </a:r>
                      <a:endParaRPr lang="en-IN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12000"/>
                        </a:lnSpc>
                        <a:spcAft>
                          <a:spcPts val="1060"/>
                        </a:spcAft>
                      </a:pPr>
                      <a:r>
                        <a:rPr lang="en-IN" sz="1200">
                          <a:effectLst/>
                        </a:rPr>
                        <a:t>0.8816</a:t>
                      </a:r>
                      <a:endParaRPr lang="en-IN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12000"/>
                        </a:lnSpc>
                        <a:spcAft>
                          <a:spcPts val="1060"/>
                        </a:spcAft>
                      </a:pPr>
                      <a:r>
                        <a:rPr lang="en-IN" sz="1200" dirty="0">
                          <a:effectLst/>
                        </a:rPr>
                        <a:t>0.8800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89413799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A7A1E1A-FD22-4DFF-8ADC-169F78DC21F0}"/>
              </a:ext>
            </a:extLst>
          </p:cNvPr>
          <p:cNvSpPr txBox="1"/>
          <p:nvPr/>
        </p:nvSpPr>
        <p:spPr>
          <a:xfrm>
            <a:off x="1069848" y="4401670"/>
            <a:ext cx="10058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SNN outperformed baseline models</a:t>
            </a:r>
          </a:p>
          <a:p>
            <a:pPr algn="ctr"/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“SNN consistently outperformed traditional models.” </a:t>
            </a: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“Higher recall is especially important in healthcare scenarios.” </a:t>
            </a: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“Missing a health risk is more dangerous than a false alarm — SNN minimizes that risk.”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758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63EB0-3915-4781-BF4B-192AD50BC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Results (New Dataset)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71D7F-6E9B-403B-8FE6-09602AEDB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generalization capability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SNN Accuracy: 96.8%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 Score: 0.97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Cross-dataset: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 67%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Recall: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</a:t>
            </a:r>
          </a:p>
          <a:p>
            <a:pPr marL="0" indent="0" algn="ctr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“The model was tested on completely unseen data.” </a:t>
            </a:r>
          </a:p>
          <a:p>
            <a:pPr marL="0" indent="0" algn="ctr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“Despite dataset differences, performance remained strong.” </a:t>
            </a:r>
          </a:p>
          <a:p>
            <a:pPr marL="0" indent="0" algn="ctr">
              <a:buNone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“Achieving 96.8% accuracy highlights the model’s adaptability.” </a:t>
            </a:r>
          </a:p>
          <a:p>
            <a:pPr marL="0" indent="0" algn="ctr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“100% recall ensures no critical condition is missed.”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950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AB251-EB12-47AC-BB45-4A762E06E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Key Learnings &amp;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A555483-05B1-4ABB-8435-ED80296AB2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9848" y="2711485"/>
            <a:ext cx="8818953" cy="2739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Temporal encoding improves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SNN handles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data effectively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 is possible but challenging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is suitable for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low-power environments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“Temporal encoding proved to be a key factor in performance improvement.”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“SNN shows strong potential in low-data scenarios.”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957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42300-9791-46A1-A179-8774ABCD6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Conclusion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5D87251-98F5-45C7-9D6E-C5B9938504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9848" y="1684591"/>
            <a:ext cx="10052304" cy="492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built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SNN-based health classifier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Demonstrated: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Better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Cross-dataset validation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Shows potential for: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Space missions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Wearable health monitoring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“This project successfully integrates AI, neuroscience, and space applications.” </a:t>
            </a:r>
          </a:p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“This work demonstrates that brain-inspired computing can play a crucial role in future space healthcare systems.”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2662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Wood Type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C6AE0645-98FF-411B-B0E9-59ABD78A0C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33</TotalTime>
  <Words>549</Words>
  <Application>Microsoft Office PowerPoint</Application>
  <PresentationFormat>Widescreen</PresentationFormat>
  <Paragraphs>114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Georgia</vt:lpstr>
      <vt:lpstr>Times New Roman</vt:lpstr>
      <vt:lpstr>Trebuchet MS</vt:lpstr>
      <vt:lpstr>Wingdings</vt:lpstr>
      <vt:lpstr>Wood Type</vt:lpstr>
      <vt:lpstr>Spiking Neural Networks for Astronaut Health Monitoring Neuromorphic AI for Space Applications</vt:lpstr>
      <vt:lpstr>Motivation </vt:lpstr>
      <vt:lpstr>Problem Definition</vt:lpstr>
      <vt:lpstr>Our Approach</vt:lpstr>
      <vt:lpstr>Implementation</vt:lpstr>
      <vt:lpstr>Improvements After Review-1 </vt:lpstr>
      <vt:lpstr>Results (Initial Dataset)</vt:lpstr>
      <vt:lpstr>Results (New Dataset)</vt:lpstr>
      <vt:lpstr>Key Learnings &amp; Insights</vt:lpstr>
      <vt:lpstr>Conclusion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Spiking Neural Networks for Astronaut Health Monitoring Neuromorphic AI for Space Applications</dc:title>
  <dc:creator>nishtha verma</dc:creator>
  <cp:lastModifiedBy>nishtha verma</cp:lastModifiedBy>
  <cp:revision>4</cp:revision>
  <dcterms:created xsi:type="dcterms:W3CDTF">2026-03-31T04:46:52Z</dcterms:created>
  <dcterms:modified xsi:type="dcterms:W3CDTF">2026-03-31T05:20:16Z</dcterms:modified>
</cp:coreProperties>
</file>